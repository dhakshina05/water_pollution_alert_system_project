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4" r:id="rId1"/>
  </p:sldMasterIdLst>
  <p:notesMasterIdLst>
    <p:notesMasterId r:id="rId28"/>
  </p:notesMasterIdLst>
  <p:sldIdLst>
    <p:sldId id="256" r:id="rId2"/>
    <p:sldId id="307" r:id="rId3"/>
    <p:sldId id="259" r:id="rId4"/>
    <p:sldId id="308" r:id="rId5"/>
    <p:sldId id="309" r:id="rId6"/>
    <p:sldId id="260" r:id="rId7"/>
    <p:sldId id="288" r:id="rId8"/>
    <p:sldId id="289" r:id="rId9"/>
    <p:sldId id="290" r:id="rId10"/>
    <p:sldId id="291" r:id="rId11"/>
    <p:sldId id="310" r:id="rId12"/>
    <p:sldId id="311" r:id="rId13"/>
    <p:sldId id="313" r:id="rId14"/>
    <p:sldId id="314" r:id="rId15"/>
    <p:sldId id="315" r:id="rId16"/>
    <p:sldId id="286" r:id="rId17"/>
    <p:sldId id="281" r:id="rId18"/>
    <p:sldId id="304" r:id="rId19"/>
    <p:sldId id="305" r:id="rId20"/>
    <p:sldId id="306" r:id="rId21"/>
    <p:sldId id="264" r:id="rId22"/>
    <p:sldId id="295" r:id="rId23"/>
    <p:sldId id="283" r:id="rId24"/>
    <p:sldId id="316" r:id="rId25"/>
    <p:sldId id="284" r:id="rId26"/>
    <p:sldId id="279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7DDA43F-72FE-4122-B378-AB2F2FB43E91}">
          <p14:sldIdLst>
            <p14:sldId id="256"/>
            <p14:sldId id="307"/>
            <p14:sldId id="259"/>
            <p14:sldId id="308"/>
            <p14:sldId id="309"/>
            <p14:sldId id="260"/>
            <p14:sldId id="288"/>
            <p14:sldId id="289"/>
            <p14:sldId id="290"/>
            <p14:sldId id="291"/>
            <p14:sldId id="310"/>
            <p14:sldId id="311"/>
            <p14:sldId id="313"/>
            <p14:sldId id="314"/>
            <p14:sldId id="315"/>
            <p14:sldId id="286"/>
            <p14:sldId id="281"/>
            <p14:sldId id="304"/>
            <p14:sldId id="305"/>
            <p14:sldId id="306"/>
            <p14:sldId id="264"/>
            <p14:sldId id="295"/>
            <p14:sldId id="283"/>
            <p14:sldId id="316"/>
            <p14:sldId id="284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qRHtNhQ8D2myVgs+lBlhxLFt78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. Meenakshi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055"/>
    <a:srgbClr val="CCFFFF"/>
    <a:srgbClr val="99CCFF"/>
    <a:srgbClr val="FFCCFF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02997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2C771F8-D56C-B03E-19B7-9BEF83C8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100A1636-1024-45F8-0242-3CBC7D424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C86FE469-0884-BA79-7F0E-0FF9917A3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1910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0AC67E0-73B2-35DE-F6EF-A2492EDF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>
            <a:extLst>
              <a:ext uri="{FF2B5EF4-FFF2-40B4-BE49-F238E27FC236}">
                <a16:creationId xmlns:a16="http://schemas.microsoft.com/office/drawing/2014/main" id="{84F1721F-AEAB-6B88-77B7-6B6D8E0DE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:notes">
            <a:extLst>
              <a:ext uri="{FF2B5EF4-FFF2-40B4-BE49-F238E27FC236}">
                <a16:creationId xmlns:a16="http://schemas.microsoft.com/office/drawing/2014/main" id="{36096DFC-920C-C2E0-9561-D660411B2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3797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9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9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Ovr>
    <a:masterClrMapping/>
  </p:clrMapOvr>
  <p:transition>
    <p:cut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6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cut thruBlk="1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365760" y="2372995"/>
            <a:ext cx="9832599" cy="87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045C"/>
              </a:buClr>
              <a:buSzPts val="6000"/>
              <a:buFont typeface="Times New Roman"/>
              <a:buNone/>
            </a:pPr>
            <a: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  <a:t>	  </a:t>
            </a: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  <a:t>                                                                     </a:t>
            </a: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60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br>
              <a:rPr lang="en-IN" sz="27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r>
              <a:rPr lang="en-IN" sz="27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  <a:t>WATER POLLUTION ALERT  SYSTEM</a:t>
            </a:r>
            <a:br>
              <a:rPr lang="en-IN" sz="2700" b="1" dirty="0">
                <a:solidFill>
                  <a:srgbClr val="54045C"/>
                </a:solidFill>
                <a:latin typeface="Times New Roman"/>
                <a:cs typeface="Times New Roman"/>
                <a:sym typeface="Times New Roman"/>
              </a:rPr>
            </a:br>
            <a:endParaRPr sz="2700" dirty="0">
              <a:solidFill>
                <a:srgbClr val="002060"/>
              </a:solidFill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365760" y="3067664"/>
            <a:ext cx="10513306" cy="141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045C"/>
              </a:buClr>
              <a:buSzPct val="100000"/>
              <a:buNone/>
            </a:pPr>
            <a:r>
              <a:rPr lang="en-IN" sz="9600" b="1" u="sng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Details:</a:t>
            </a:r>
            <a:endParaRPr sz="9600" b="1" u="sng" dirty="0">
              <a:solidFill>
                <a:srgbClr val="5404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l">
              <a:lnSpc>
                <a:spcPct val="150000"/>
              </a:lnSpc>
              <a:spcBef>
                <a:spcPts val="0"/>
              </a:spcBef>
              <a:buClr>
                <a:srgbClr val="54045C"/>
              </a:buClr>
              <a:buSzPct val="100000"/>
            </a:pPr>
            <a:r>
              <a:rPr lang="en-GB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</a:t>
            </a:r>
            <a:r>
              <a:rPr lang="en-IN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:S.DHAKSHINA SHRI</a:t>
            </a:r>
            <a:r>
              <a:rPr lang="en-IN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</a:rPr>
              <a:t> / 211423104119</a:t>
            </a:r>
          </a:p>
          <a:p>
            <a:pPr lvl="0" algn="l">
              <a:lnSpc>
                <a:spcPct val="150000"/>
              </a:lnSpc>
              <a:spcBef>
                <a:spcPts val="0"/>
              </a:spcBef>
              <a:buClr>
                <a:srgbClr val="54045C"/>
              </a:buClr>
              <a:buSzPct val="100000"/>
            </a:pPr>
            <a:r>
              <a:rPr lang="en-IN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B. DARSHINI/211423104105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045C"/>
              </a:buClr>
              <a:buSzPct val="100000"/>
              <a:buNone/>
            </a:pPr>
            <a:r>
              <a:rPr lang="en-IN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600" b="1" dirty="0">
              <a:solidFill>
                <a:srgbClr val="5404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045C"/>
              </a:buClr>
              <a:buSzPct val="100000"/>
              <a:buNone/>
            </a:pPr>
            <a:r>
              <a:rPr lang="en-GB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Number:A8		                        Domain: Internet of Things </a:t>
            </a:r>
            <a:endParaRPr lang="en-IN" sz="9600" b="1" dirty="0">
              <a:solidFill>
                <a:srgbClr val="5404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l">
              <a:lnSpc>
                <a:spcPct val="150000"/>
              </a:lnSpc>
              <a:spcBef>
                <a:spcPts val="0"/>
              </a:spcBef>
              <a:buClr>
                <a:srgbClr val="54045C"/>
              </a:buClr>
              <a:buSzPct val="100000"/>
            </a:pPr>
            <a:r>
              <a:rPr lang="en-IN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</a:rPr>
              <a:t>Guide Name &amp; Designation</a:t>
            </a:r>
            <a:r>
              <a:rPr lang="en-GB" sz="9600" b="1" dirty="0">
                <a:solidFill>
                  <a:srgbClr val="54045C"/>
                </a:solidFill>
                <a:latin typeface="Times New Roman"/>
                <a:ea typeface="Times New Roman"/>
                <a:cs typeface="Times New Roman"/>
              </a:rPr>
              <a:t>	: ALIMA BEEVI A M.E.,		</a:t>
            </a:r>
            <a:endParaRPr dirty="0">
              <a:solidFill>
                <a:srgbClr val="54045C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2372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EE19-80EF-E1CF-505A-F8F4F9BA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1948"/>
            <a:ext cx="10972800" cy="945690"/>
          </a:xfrm>
        </p:spPr>
        <p:txBody>
          <a:bodyPr>
            <a:normAutofit/>
          </a:bodyPr>
          <a:lstStyle/>
          <a:p>
            <a:r>
              <a:rPr lang="en-IN" sz="4300" b="1" dirty="0">
                <a:solidFill>
                  <a:srgbClr val="4B0055"/>
                </a:solidFill>
                <a:latin typeface="+mn-lt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ABE4FD-0895-4063-EFF0-0F5BDB8F79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816473"/>
            <a:ext cx="1042219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Survey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&amp; Use Case Diagrams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/ Algorithms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&amp; Validation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Analysis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Screenshots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&amp; Future Work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References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0CFEEB1-BEAA-F7CF-09BC-A192F918B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354" y="2166137"/>
            <a:ext cx="4303440" cy="285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8925"/>
      </p:ext>
    </p:extLst>
  </p:cSld>
  <p:clrMapOvr>
    <a:masterClrMapping/>
  </p:clrMapOvr>
  <p:transition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158440" y="306003"/>
            <a:ext cx="9891031" cy="719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045C"/>
              </a:buClr>
              <a:buSzPct val="100000"/>
              <a:buFont typeface="Calibri"/>
              <a:buNone/>
            </a:pPr>
            <a:r>
              <a:rPr lang="en-IN" sz="4400" b="1" i="0" u="none" strike="noStrike" cap="none" dirty="0">
                <a:solidFill>
                  <a:srgbClr val="54045C"/>
                </a:solidFill>
                <a:latin typeface="Calibri"/>
                <a:ea typeface="Calibri"/>
                <a:cs typeface="Calibri"/>
                <a:sym typeface="Calibri"/>
              </a:rPr>
              <a:t>				Abstract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1129" y="711201"/>
            <a:ext cx="7564311" cy="5597738"/>
          </a:xfrm>
        </p:spPr>
        <p:txBody>
          <a:bodyPr>
            <a:norm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C7FEC9-80FA-F2AA-6C14-760467B8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090" y="6842094"/>
            <a:ext cx="106708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F91F38-DC95-2E22-3FC9-D9CC20068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54"/>
          <a:stretch/>
        </p:blipFill>
        <p:spPr>
          <a:xfrm>
            <a:off x="9548246" y="2016098"/>
            <a:ext cx="2643754" cy="1798818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38AAF12-5C83-4CAC-5517-B4CE01CA582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8425" y="1430223"/>
            <a:ext cx="867205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Pollution Alert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aims to provide an efficient and automated method for analyzing and detecting water pollution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utilizes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processing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evaluate the color, clarity, and visual properties of water samples to determine their quality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classifies the water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Moderately Polluted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Polluted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extracted image features and predefined threshold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implementation is carried out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libraries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image analysis and report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serves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prototype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mimics IoT-based pollution monitoring, where physical sensors can be integrated in future enhancements.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system demonstrates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cost-effective, digital, and scalable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monitor water quality and generate real-time alerts or reports to assist in environmental protection and resource management.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2926-A348-C489-AF2B-D6812215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300" b="1" dirty="0">
                <a:solidFill>
                  <a:srgbClr val="4B0055"/>
                </a:solidFill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0C6D35-089E-215E-F55A-328CB7419F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626" y="1587940"/>
            <a:ext cx="965429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pollution is one of the most critical environmental challenges, caused by the discharge of harmful substances into water bodies.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severely affects aquatic life, ecosystem balance, and human health by contaminating water sources.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methods for assessing water quality involve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sampling and laboratory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are time-consuming, expensive, and not suitable for continuous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the advancement of technology,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water quality monitoring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become essential for faster detection and prevention of pollution.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introduces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Pollution Alert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processing and analysis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determine the pollution level of water based on visual parameters such as color and clarity.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acts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representing real-time IoT behavior, where future integration with sensors and cloud platforms can 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environmental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pollution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4447100"/>
      </p:ext>
    </p:extLst>
  </p:cSld>
  <p:clrMapOvr>
    <a:masterClrMapping/>
  </p:clrMapOvr>
  <p:transition>
    <p:cut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C9CE-A1D8-E6BA-C3A5-C11D41788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300" b="1" dirty="0">
                <a:solidFill>
                  <a:srgbClr val="4B0055"/>
                </a:solidFill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6867EF-D2A4-E750-2107-8044A15017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739529"/>
            <a:ext cx="714805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capable of analyzing and detecting water pollution levels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processing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replace traditional manual testing methods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faster, cost-effective, and scalable digital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 water quality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categories such as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Moderately Polluted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Polluted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visual parameters.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and detailed PDF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summarize pollution levels and analysis results.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prototype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mimics an IoT-based system for future integration with real-time sensors (pH, turbidity, temperature).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contribute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protection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early pollution detection and timely response.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3C49C9-34C7-8159-2F32-CB1B858A6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787" y="1553715"/>
            <a:ext cx="4011561" cy="42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5487"/>
      </p:ext>
    </p:extLst>
  </p:cSld>
  <p:clrMapOvr>
    <a:masterClrMapping/>
  </p:clrMapOvr>
  <p:transition>
    <p:cut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04130" y="-225335"/>
            <a:ext cx="10972800" cy="1143000"/>
          </a:xfrm>
        </p:spPr>
        <p:txBody>
          <a:bodyPr>
            <a:normAutofit/>
          </a:bodyPr>
          <a:lstStyle/>
          <a:p>
            <a:pPr lvl="0"/>
            <a:r>
              <a:rPr lang="en-IN" b="1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0232" y="525192"/>
            <a:ext cx="10972800" cy="5807616"/>
          </a:xfrm>
        </p:spPr>
        <p:txBody>
          <a:bodyPr/>
          <a:lstStyle/>
          <a:p>
            <a:pPr marL="0" lvl="0" indent="0">
              <a:spcBef>
                <a:spcPts val="1950"/>
              </a:spcBef>
              <a:buNone/>
            </a:pP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Bef>
                <a:spcPts val="1950"/>
              </a:spcBef>
              <a:buNone/>
            </a:pPr>
            <a:r>
              <a:rPr lang="en-US" sz="2000" dirty="0"/>
              <a:t>1. Low-cost water-quality sensors (systematic review)</a:t>
            </a:r>
            <a:endParaRPr lang="en-IN" sz="2000" b="1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>
              <a:spcBef>
                <a:spcPts val="1950"/>
              </a:spcBef>
              <a:buNone/>
            </a:pP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C33B9388-7239-081D-62C3-804968CC4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1600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9D54433-9BF5-CA9F-6618-80940C024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29253"/>
              </p:ext>
            </p:extLst>
          </p:nvPr>
        </p:nvGraphicFramePr>
        <p:xfrm>
          <a:off x="382555" y="1922115"/>
          <a:ext cx="11131422" cy="404274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464299">
                  <a:extLst>
                    <a:ext uri="{9D8B030D-6E8A-4147-A177-3AD203B41FA5}">
                      <a16:colId xmlns:a16="http://schemas.microsoft.com/office/drawing/2014/main" val="121481731"/>
                    </a:ext>
                  </a:extLst>
                </a:gridCol>
                <a:gridCol w="8667123">
                  <a:extLst>
                    <a:ext uri="{9D8B030D-6E8A-4147-A177-3AD203B41FA5}">
                      <a16:colId xmlns:a16="http://schemas.microsoft.com/office/drawing/2014/main" val="4100622209"/>
                    </a:ext>
                  </a:extLst>
                </a:gridCol>
              </a:tblGrid>
              <a:tr h="448326">
                <a:tc>
                  <a:txBody>
                    <a:bodyPr/>
                    <a:lstStyle/>
                    <a:p>
                      <a:r>
                        <a:rPr lang="en-IN" sz="1600" b="1" dirty="0"/>
                        <a:t>Aspect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Details</a:t>
                      </a:r>
                      <a:endParaRPr lang="en-IN" sz="1600">
                        <a:latin typeface="Time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988442"/>
                  </a:ext>
                </a:extLst>
              </a:tr>
              <a:tr h="448326">
                <a:tc>
                  <a:txBody>
                    <a:bodyPr/>
                    <a:lstStyle/>
                    <a:p>
                      <a:r>
                        <a:rPr lang="en-IN" sz="1600" b="1" dirty="0"/>
                        <a:t>Author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E. T. de Camargo et al., </a:t>
                      </a:r>
                      <a:r>
                        <a:rPr lang="en-US" sz="1600" i="1" dirty="0"/>
                        <a:t>Low-Cost Water Quality Sensors for IoT</a:t>
                      </a:r>
                      <a:r>
                        <a:rPr lang="en-US" sz="1600" dirty="0"/>
                        <a:t> (2023).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6357586"/>
                  </a:ext>
                </a:extLst>
              </a:tr>
              <a:tr h="774379">
                <a:tc>
                  <a:txBody>
                    <a:bodyPr/>
                    <a:lstStyle/>
                    <a:p>
                      <a:r>
                        <a:rPr lang="en-IN" sz="1600" b="1" dirty="0"/>
                        <a:t>Summary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Systematic review of commercially available low-cost sensors used for remote water monitoring; compares sensor types, cost ranges, measured parameters (pH, turbidity, DO, conductivity), and typical accuracy trade-offs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159539"/>
                  </a:ext>
                </a:extLst>
              </a:tr>
              <a:tr h="774379">
                <a:tc>
                  <a:txBody>
                    <a:bodyPr/>
                    <a:lstStyle/>
                    <a:p>
                      <a:r>
                        <a:rPr lang="en-IN" sz="1600" b="1" dirty="0"/>
                        <a:t>Relevance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Shows which inexpensive sensors can enable dense monitoring networks and supports design decisions for field prototypes and student projects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060134"/>
                  </a:ext>
                </a:extLst>
              </a:tr>
              <a:tr h="774379">
                <a:tc>
                  <a:txBody>
                    <a:bodyPr/>
                    <a:lstStyle/>
                    <a:p>
                      <a:r>
                        <a:rPr lang="en-IN" sz="1600" b="1" dirty="0"/>
                        <a:t>Gaps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Many low-cost sensors lack long-term field validation, suffer drift and cross-sensitivity; calibration procedures and environmental robustness are inconsistently reported.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47268"/>
                  </a:ext>
                </a:extLst>
              </a:tr>
              <a:tr h="774379">
                <a:tc>
                  <a:txBody>
                    <a:bodyPr/>
                    <a:lstStyle/>
                    <a:p>
                      <a:r>
                        <a:rPr lang="en-IN" sz="1600" b="1" dirty="0"/>
                        <a:t>Impact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Enables affordable, scalable monitoring deployments but highlights the need for standard calibration protocols and QA/QC before regulatory use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15225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8FA9-F75F-CAC5-F04B-8B53263A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-261422"/>
            <a:ext cx="10972800" cy="1143000"/>
          </a:xfrm>
        </p:spPr>
        <p:txBody>
          <a:bodyPr/>
          <a:lstStyle/>
          <a:p>
            <a:r>
              <a:rPr lang="en-IN" b="1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18E30-D9CB-D72F-4383-5841A15A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742334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en-US" sz="2000" dirty="0"/>
              <a:t>Machine-learning for water-quality prediction and classification</a:t>
            </a:r>
            <a:endParaRPr 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208DA05-9D63-05EF-171A-4A252F172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86238"/>
              </p:ext>
            </p:extLst>
          </p:nvPr>
        </p:nvGraphicFramePr>
        <p:xfrm>
          <a:off x="513184" y="1589703"/>
          <a:ext cx="10855856" cy="460412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35875">
                  <a:extLst>
                    <a:ext uri="{9D8B030D-6E8A-4147-A177-3AD203B41FA5}">
                      <a16:colId xmlns:a16="http://schemas.microsoft.com/office/drawing/2014/main" val="2917773427"/>
                    </a:ext>
                  </a:extLst>
                </a:gridCol>
                <a:gridCol w="8419981">
                  <a:extLst>
                    <a:ext uri="{9D8B030D-6E8A-4147-A177-3AD203B41FA5}">
                      <a16:colId xmlns:a16="http://schemas.microsoft.com/office/drawing/2014/main" val="2354880008"/>
                    </a:ext>
                  </a:extLst>
                </a:gridCol>
              </a:tblGrid>
              <a:tr h="461960">
                <a:tc>
                  <a:txBody>
                    <a:bodyPr/>
                    <a:lstStyle/>
                    <a:p>
                      <a:r>
                        <a:rPr lang="en-IN" sz="1600" b="1"/>
                        <a:t>Aspect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Details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036395215"/>
                  </a:ext>
                </a:extLst>
              </a:tr>
              <a:tr h="636557">
                <a:tc>
                  <a:txBody>
                    <a:bodyPr/>
                    <a:lstStyle/>
                    <a:p>
                      <a:r>
                        <a:rPr lang="en-IN" sz="1600" b="1"/>
                        <a:t>Author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M. Zhu et al., </a:t>
                      </a:r>
                      <a:r>
                        <a:rPr lang="en-US" sz="1600" i="1" dirty="0"/>
                        <a:t>A review of the application of machine learning in water</a:t>
                      </a:r>
                      <a:r>
                        <a:rPr lang="en-US" sz="1600" dirty="0"/>
                        <a:t> (2022).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520285605"/>
                  </a:ext>
                </a:extLst>
              </a:tr>
              <a:tr h="827524">
                <a:tc>
                  <a:txBody>
                    <a:bodyPr/>
                    <a:lstStyle/>
                    <a:p>
                      <a:r>
                        <a:rPr lang="en-IN" sz="1600" b="1"/>
                        <a:t>Summary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Survey of ML methods (random forests, </a:t>
                      </a:r>
                      <a:r>
                        <a:rPr lang="en-US" sz="1600" dirty="0" err="1"/>
                        <a:t>SVM</a:t>
                      </a:r>
                      <a:r>
                        <a:rPr lang="en-US" sz="1600" dirty="0"/>
                        <a:t>, neural nets, LSTM) applied to classification/forecasting of water quality across surface water, groundwater and drinking water applications. Discusses feature selection, evaluation metrics, and examples of improved predictive skill over simple statistical models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869061685"/>
                  </a:ext>
                </a:extLst>
              </a:tr>
              <a:tr h="636557">
                <a:tc>
                  <a:txBody>
                    <a:bodyPr/>
                    <a:lstStyle/>
                    <a:p>
                      <a:r>
                        <a:rPr lang="en-IN" sz="1600" b="1"/>
                        <a:t>Relevance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Shows how ML models can turn sensor + historical data into forecasts/alerts, improving early warning compared to threshold rules. Useful for upgrading a prototype alert system to predictive alerts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494278599"/>
                  </a:ext>
                </a:extLst>
              </a:tr>
              <a:tr h="827524">
                <a:tc>
                  <a:txBody>
                    <a:bodyPr/>
                    <a:lstStyle/>
                    <a:p>
                      <a:r>
                        <a:rPr lang="en-IN" sz="1600" b="1"/>
                        <a:t>Gaps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Requires large, well-labelled datasets; suffers from overfitting, lack of transferability between basins, and interpretability of complex models. Data gaps and sensor noise limit real-world deployment.</a:t>
                      </a:r>
                      <a:br>
                        <a:rPr lang="en-US" sz="1600" dirty="0"/>
                      </a:br>
                      <a:endParaRPr lang="en-US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952987560"/>
                  </a:ext>
                </a:extLst>
              </a:tr>
              <a:tr h="827524">
                <a:tc>
                  <a:txBody>
                    <a:bodyPr/>
                    <a:lstStyle/>
                    <a:p>
                      <a:r>
                        <a:rPr lang="en-IN" sz="1600" b="1"/>
                        <a:t>Impact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When combined with field sensors, ML can raise lead time for interventions and help prioritize sampling; demands strong data pipelines and model validation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322369098"/>
                  </a:ext>
                </a:extLst>
              </a:tr>
            </a:tbl>
          </a:graphicData>
        </a:graphic>
      </p:graphicFrame>
      <p:sp>
        <p:nvSpPr>
          <p:cNvPr id="26" name="Rectangle 3">
            <a:extLst>
              <a:ext uri="{FF2B5EF4-FFF2-40B4-BE49-F238E27FC236}">
                <a16:creationId xmlns:a16="http://schemas.microsoft.com/office/drawing/2014/main" id="{08492FED-0411-45D0-5A19-B302F75BC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78" y="2276157"/>
            <a:ext cx="1412809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3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over/>
      </p:transition>
    </mc:Choice>
    <mc:Fallback xmlns="">
      <p:transition>
        <p:cov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9F85-40D0-40FA-49A0-4DF13AAB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-141922"/>
            <a:ext cx="10972800" cy="1143000"/>
          </a:xfrm>
        </p:spPr>
        <p:txBody>
          <a:bodyPr/>
          <a:lstStyle/>
          <a:p>
            <a:r>
              <a:rPr lang="en-IN" b="1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686A0-ABB9-62B5-2251-8637BEE57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3851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 </a:t>
            </a:r>
            <a:r>
              <a:rPr lang="en-US" sz="1800" dirty="0"/>
              <a:t>IoT architectures and real-time alert systems</a:t>
            </a:r>
            <a:endParaRPr lang="en-IN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BD751F-D803-FEA3-F795-54EBE20D4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790849"/>
              </p:ext>
            </p:extLst>
          </p:nvPr>
        </p:nvGraphicFramePr>
        <p:xfrm>
          <a:off x="182880" y="1493519"/>
          <a:ext cx="11399520" cy="427491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46960">
                  <a:extLst>
                    <a:ext uri="{9D8B030D-6E8A-4147-A177-3AD203B41FA5}">
                      <a16:colId xmlns:a16="http://schemas.microsoft.com/office/drawing/2014/main" val="4208111737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121931875"/>
                    </a:ext>
                  </a:extLst>
                </a:gridCol>
              </a:tblGrid>
              <a:tr h="274301">
                <a:tc>
                  <a:txBody>
                    <a:bodyPr/>
                    <a:lstStyle/>
                    <a:p>
                      <a:r>
                        <a:rPr lang="en-IN" sz="1600" b="1"/>
                        <a:t>Aspect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Details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225412829"/>
                  </a:ext>
                </a:extLst>
              </a:tr>
              <a:tr h="808034">
                <a:tc>
                  <a:txBody>
                    <a:bodyPr/>
                    <a:lstStyle/>
                    <a:p>
                      <a:r>
                        <a:rPr lang="en-IN" sz="1600" b="1"/>
                        <a:t>Author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J. Tang et al., </a:t>
                      </a:r>
                      <a:r>
                        <a:rPr lang="en-US" sz="1600" i="1" dirty="0"/>
                        <a:t>Design and realization of a water quality monitoring system</a:t>
                      </a:r>
                      <a:r>
                        <a:rPr lang="en-US" sz="1600" dirty="0"/>
                        <a:t> (2024) and related IoT reviews.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189575175"/>
                  </a:ext>
                </a:extLst>
              </a:tr>
              <a:tr h="891478">
                <a:tc>
                  <a:txBody>
                    <a:bodyPr/>
                    <a:lstStyle/>
                    <a:p>
                      <a:r>
                        <a:rPr lang="en-IN" sz="1600" b="1"/>
                        <a:t>Summary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Describes practical IoT stacks (microcontroller like </a:t>
                      </a:r>
                      <a:r>
                        <a:rPr lang="en-IN" sz="1600" dirty="0" err="1"/>
                        <a:t>ESP32</a:t>
                      </a:r>
                      <a:r>
                        <a:rPr lang="en-IN" sz="1600" dirty="0"/>
                        <a:t>/RPi, sensors, </a:t>
                      </a:r>
                      <a:r>
                        <a:rPr lang="en-IN" sz="1600" dirty="0" err="1"/>
                        <a:t>MQTT</a:t>
                      </a:r>
                      <a:r>
                        <a:rPr lang="en-IN" sz="1600" dirty="0"/>
                        <a:t>/HTTP telemetry, cloud dashboard, SMS/email alerting). Reviews document </a:t>
                      </a:r>
                      <a:r>
                        <a:rPr lang="en-IN" sz="1600" dirty="0" err="1"/>
                        <a:t>tradeoffs</a:t>
                      </a:r>
                      <a:r>
                        <a:rPr lang="en-IN" sz="1600" dirty="0"/>
                        <a:t> in connectivity, power, and data visualization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464344403"/>
                  </a:ext>
                </a:extLst>
              </a:tr>
              <a:tr h="685752">
                <a:tc>
                  <a:txBody>
                    <a:bodyPr/>
                    <a:lstStyle/>
                    <a:p>
                      <a:r>
                        <a:rPr lang="en-IN" sz="1600" b="1"/>
                        <a:t>Relevance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Direct blueprint for building a deployed alerting pipeline (edge sensing → gateway → cloud → notification). Matches the alert/report functionality in your uploaded prototype. 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803009700"/>
                  </a:ext>
                </a:extLst>
              </a:tr>
              <a:tr h="685752">
                <a:tc>
                  <a:txBody>
                    <a:bodyPr/>
                    <a:lstStyle/>
                    <a:p>
                      <a:r>
                        <a:rPr lang="en-IN" sz="1600" b="1"/>
                        <a:t>Gaps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operational issues: network reliability, energy (remote power), cybersecurity, maintenance and sensor fouling in long-term deployments. Many papers note the lack of integrated cost/maintenance studies.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1281590399"/>
                  </a:ext>
                </a:extLst>
              </a:tr>
              <a:tr h="891478">
                <a:tc>
                  <a:txBody>
                    <a:bodyPr/>
                    <a:lstStyle/>
                    <a:p>
                      <a:r>
                        <a:rPr lang="en-IN" sz="1600" b="1"/>
                        <a:t>Impact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Real-time IoT alerts transform monitoring into actionable systems for managers and first responders — but require investment in ruggedization, secure comms, and maintenance plans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68575" marR="68575" marT="34288" marB="34288" anchor="ctr"/>
                </a:tc>
                <a:extLst>
                  <a:ext uri="{0D108BD9-81ED-4DB2-BD59-A6C34878D82A}">
                    <a16:rowId xmlns:a16="http://schemas.microsoft.com/office/drawing/2014/main" val="8544821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DFACD51-5A82-D883-041B-ED1C63907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920" y="23371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37715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6289-41FE-595F-22C5-875C7326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-160965"/>
            <a:ext cx="10972800" cy="1143000"/>
          </a:xfrm>
        </p:spPr>
        <p:txBody>
          <a:bodyPr/>
          <a:lstStyle/>
          <a:p>
            <a:r>
              <a:rPr lang="en-IN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9863-0A08-1253-4D40-C46702AD5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733245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/>
              <a:t>Cloud and Big Data Analytics in Water Quality Monitoring</a:t>
            </a:r>
            <a:endParaRPr lang="en-IN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8651E9-D232-7102-E1C0-F0018D346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940940"/>
              </p:ext>
            </p:extLst>
          </p:nvPr>
        </p:nvGraphicFramePr>
        <p:xfrm>
          <a:off x="548640" y="1598792"/>
          <a:ext cx="11094720" cy="450007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032236">
                  <a:extLst>
                    <a:ext uri="{9D8B030D-6E8A-4147-A177-3AD203B41FA5}">
                      <a16:colId xmlns:a16="http://schemas.microsoft.com/office/drawing/2014/main" val="2367573605"/>
                    </a:ext>
                  </a:extLst>
                </a:gridCol>
                <a:gridCol w="9062484">
                  <a:extLst>
                    <a:ext uri="{9D8B030D-6E8A-4147-A177-3AD203B41FA5}">
                      <a16:colId xmlns:a16="http://schemas.microsoft.com/office/drawing/2014/main" val="2277765461"/>
                    </a:ext>
                  </a:extLst>
                </a:gridCol>
              </a:tblGrid>
              <a:tr h="287363">
                <a:tc>
                  <a:txBody>
                    <a:bodyPr/>
                    <a:lstStyle/>
                    <a:p>
                      <a:r>
                        <a:rPr lang="en-IN" sz="1600" b="1"/>
                        <a:t>Aspect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Details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821505926"/>
                  </a:ext>
                </a:extLst>
              </a:tr>
              <a:tr h="720172">
                <a:tc>
                  <a:txBody>
                    <a:bodyPr/>
                    <a:lstStyle/>
                    <a:p>
                      <a:r>
                        <a:rPr lang="en-IN" sz="1600" b="1"/>
                        <a:t>Author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P. Singh et al., “Cloud-Based Big Data Framework for Water Quality Monitoring and Forecasting,” IEEE Access (2023)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255840783"/>
                  </a:ext>
                </a:extLst>
              </a:tr>
              <a:tr h="718407">
                <a:tc>
                  <a:txBody>
                    <a:bodyPr/>
                    <a:lstStyle/>
                    <a:p>
                      <a:r>
                        <a:rPr lang="en-IN" sz="1600" b="1"/>
                        <a:t>Summary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Proposes an integrated system that uses IoT-enabled sensors to stream water quality data to a cloud platform (AWS/Azure). Implements Spark-based analytics for real-time visualization and anomaly detection. Demonstrates scalable handling of large sensor datasets from multiple river sites.</a:t>
                      </a:r>
                      <a:endParaRPr lang="en-IN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104546457"/>
                  </a:ext>
                </a:extLst>
              </a:tr>
              <a:tr h="933929">
                <a:tc>
                  <a:txBody>
                    <a:bodyPr/>
                    <a:lstStyle/>
                    <a:p>
                      <a:r>
                        <a:rPr lang="en-IN" sz="1600" b="1"/>
                        <a:t>Relevance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Shows how cloud infrastructure enhances scalability, data storage, and analytics — aligning perfectly with projects that evolve from prototype to region-wide systems.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816924826"/>
                  </a:ext>
                </a:extLst>
              </a:tr>
              <a:tr h="718407">
                <a:tc>
                  <a:txBody>
                    <a:bodyPr/>
                    <a:lstStyle/>
                    <a:p>
                      <a:r>
                        <a:rPr lang="en-IN" sz="1600" b="1"/>
                        <a:t>Gaps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cloud operation cost, data privacy concerns, and limited offline functionality in low-connectivity zones. Standardization of APIs and interoperability between sensor vendors remains unresolved.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673469357"/>
                  </a:ext>
                </a:extLst>
              </a:tr>
              <a:tr h="1008529">
                <a:tc>
                  <a:txBody>
                    <a:bodyPr/>
                    <a:lstStyle/>
                    <a:p>
                      <a:r>
                        <a:rPr lang="en-IN" sz="1600" b="1"/>
                        <a:t>Impact</a:t>
                      </a:r>
                      <a:endParaRPr lang="en-IN" sz="160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Enables </a:t>
                      </a:r>
                      <a:r>
                        <a:rPr lang="en-US" sz="1600" b="1" dirty="0"/>
                        <a:t>real-time, multi-location monitoring</a:t>
                      </a:r>
                      <a:r>
                        <a:rPr lang="en-US" sz="1600" dirty="0"/>
                        <a:t> with predictive analytics. Supports environmental agencies and public dashboards for transparency and public awareness.</a:t>
                      </a:r>
                      <a:endParaRPr lang="en-US" sz="1600" dirty="0">
                        <a:latin typeface="Time new roman"/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57729325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C73B33A-E57F-9B63-5D59-FF0668898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018" y="23777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61203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00348-69E7-974D-4A83-ECAFAFCF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31" y="60485"/>
            <a:ext cx="10972800" cy="1351494"/>
          </a:xfrm>
        </p:spPr>
        <p:txBody>
          <a:bodyPr/>
          <a:lstStyle/>
          <a:p>
            <a:r>
              <a:rPr lang="en-IN" b="1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B8D60-B197-3644-CB6C-D281978C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99" y="1008680"/>
            <a:ext cx="11085402" cy="443734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</a:rPr>
              <a:t>5. </a:t>
            </a:r>
            <a:r>
              <a:rPr lang="en-US" sz="1800" dirty="0"/>
              <a:t>Health Risk Assessment and Water Pollution Monitoring</a:t>
            </a:r>
            <a:endParaRPr lang="en-IN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7ABF36-A473-2B26-1CD6-B4B8F01EC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42867"/>
              </p:ext>
            </p:extLst>
          </p:nvPr>
        </p:nvGraphicFramePr>
        <p:xfrm>
          <a:off x="553299" y="1673725"/>
          <a:ext cx="10689332" cy="443734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732701">
                  <a:extLst>
                    <a:ext uri="{9D8B030D-6E8A-4147-A177-3AD203B41FA5}">
                      <a16:colId xmlns:a16="http://schemas.microsoft.com/office/drawing/2014/main" val="3216390796"/>
                    </a:ext>
                  </a:extLst>
                </a:gridCol>
                <a:gridCol w="8956631">
                  <a:extLst>
                    <a:ext uri="{9D8B030D-6E8A-4147-A177-3AD203B41FA5}">
                      <a16:colId xmlns:a16="http://schemas.microsoft.com/office/drawing/2014/main" val="3361481089"/>
                    </a:ext>
                  </a:extLst>
                </a:gridCol>
              </a:tblGrid>
              <a:tr h="287363">
                <a:tc>
                  <a:txBody>
                    <a:bodyPr/>
                    <a:lstStyle/>
                    <a:p>
                      <a:r>
                        <a:rPr lang="en-IN" sz="1600" b="1" dirty="0"/>
                        <a:t>Aspect</a:t>
                      </a:r>
                      <a:endParaRPr lang="en-IN" sz="1600" dirty="0"/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Details</a:t>
                      </a:r>
                      <a:endParaRPr lang="en-IN" sz="1600" dirty="0"/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000418016"/>
                  </a:ext>
                </a:extLst>
              </a:tr>
              <a:tr h="816989">
                <a:tc>
                  <a:txBody>
                    <a:bodyPr/>
                    <a:lstStyle/>
                    <a:p>
                      <a:r>
                        <a:rPr lang="en-IN" sz="1600" b="1"/>
                        <a:t>Authors</a:t>
                      </a:r>
                      <a:endParaRPr lang="en-IN" sz="1600"/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K. Shah et al.</a:t>
                      </a:r>
                      <a:r>
                        <a:rPr lang="en-US" sz="1600" dirty="0"/>
                        <a:t>, </a:t>
                      </a:r>
                      <a:r>
                        <a:rPr lang="en-US" sz="1600" i="1" dirty="0"/>
                        <a:t>Human Health Risk Assessment of Contaminated Water Sources Using IoT and Data Analytics</a:t>
                      </a:r>
                      <a:r>
                        <a:rPr lang="en-US" sz="1600" dirty="0"/>
                        <a:t> (2023)</a:t>
                      </a:r>
                      <a:endParaRPr lang="en-IN" sz="1600" dirty="0"/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618181388"/>
                  </a:ext>
                </a:extLst>
              </a:tr>
              <a:tr h="933929">
                <a:tc>
                  <a:txBody>
                    <a:bodyPr/>
                    <a:lstStyle/>
                    <a:p>
                      <a:r>
                        <a:rPr lang="en-IN" sz="1600" b="1"/>
                        <a:t>Summary</a:t>
                      </a:r>
                      <a:endParaRPr lang="en-IN" sz="1600"/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Evaluates IoT-enabled systems that integrate chemical sensors and epidemiological models to estimate human health risks (e.g., heavy-metal exposure, microbial contamination). Describes linking </a:t>
                      </a:r>
                      <a:r>
                        <a:rPr lang="en-IN" sz="1600" dirty="0" err="1"/>
                        <a:t>WQI</a:t>
                      </a:r>
                      <a:r>
                        <a:rPr lang="en-IN" sz="1600" dirty="0"/>
                        <a:t> parameters to dose–response models.</a:t>
                      </a:r>
                      <a:endParaRPr lang="en-US" sz="1600" dirty="0"/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890180608"/>
                  </a:ext>
                </a:extLst>
              </a:tr>
              <a:tr h="718407">
                <a:tc>
                  <a:txBody>
                    <a:bodyPr/>
                    <a:lstStyle/>
                    <a:p>
                      <a:r>
                        <a:rPr lang="en-IN" sz="1600" b="1"/>
                        <a:t>Relevance</a:t>
                      </a:r>
                      <a:endParaRPr lang="en-IN" sz="1600"/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Highlights the importance of translating raw sensor data into human-risk indicators—extending simple alerts into actionable community warnings.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289829650"/>
                  </a:ext>
                </a:extLst>
              </a:tr>
              <a:tr h="718407">
                <a:tc>
                  <a:txBody>
                    <a:bodyPr/>
                    <a:lstStyle/>
                    <a:p>
                      <a:r>
                        <a:rPr lang="en-IN" sz="1600" b="1"/>
                        <a:t>Gaps</a:t>
                      </a:r>
                      <a:endParaRPr lang="en-IN" sz="1600"/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Existing studies mostly simulate risk using ideal datasets; few provide field validation or population-level outcomes. Ethical data-sharing and privacy guidelines are also limited.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459392808"/>
                  </a:ext>
                </a:extLst>
              </a:tr>
              <a:tr h="933929">
                <a:tc>
                  <a:txBody>
                    <a:bodyPr/>
                    <a:lstStyle/>
                    <a:p>
                      <a:r>
                        <a:rPr lang="en-IN" sz="1600" b="1" dirty="0"/>
                        <a:t>Impact</a:t>
                      </a:r>
                      <a:endParaRPr lang="en-IN" sz="1600" dirty="0"/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Improves decision-making for municipal health departments and water authorities by connecting monitoring data to preventive healthcare actions.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73235184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4F31417-1AF1-0EB4-CEEA-C5AB070DF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418" y="226600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18820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F8AF-AA88-D7BE-D521-C8BE049C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A8FB5-A3DB-681A-2162-B57D4EAD6460}"/>
              </a:ext>
            </a:extLst>
          </p:cNvPr>
          <p:cNvSpPr txBox="1"/>
          <p:nvPr/>
        </p:nvSpPr>
        <p:spPr>
          <a:xfrm>
            <a:off x="412955" y="1417638"/>
            <a:ext cx="6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6.River Water Quality data at different monitoring stations </a:t>
            </a:r>
            <a:endParaRPr lang="en-IN" sz="1800" dirty="0">
              <a:latin typeface="+mn-lt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6080A5E-11F5-91FA-1B19-71D46B3B4C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032311"/>
              </p:ext>
            </p:extLst>
          </p:nvPr>
        </p:nvGraphicFramePr>
        <p:xfrm>
          <a:off x="412955" y="1961639"/>
          <a:ext cx="109728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290">
                  <a:extLst>
                    <a:ext uri="{9D8B030D-6E8A-4147-A177-3AD203B41FA5}">
                      <a16:colId xmlns:a16="http://schemas.microsoft.com/office/drawing/2014/main" val="3789051030"/>
                    </a:ext>
                  </a:extLst>
                </a:gridCol>
                <a:gridCol w="9055510">
                  <a:extLst>
                    <a:ext uri="{9D8B030D-6E8A-4147-A177-3AD203B41FA5}">
                      <a16:colId xmlns:a16="http://schemas.microsoft.com/office/drawing/2014/main" val="438802756"/>
                    </a:ext>
                  </a:extLst>
                </a:gridCol>
              </a:tblGrid>
              <a:tr h="309613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Aspects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266805"/>
                  </a:ext>
                </a:extLst>
              </a:tr>
              <a:tr h="577785"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Environmental Protection Department (EPD), Hong Kong -</a:t>
                      </a:r>
                      <a:r>
                        <a:rPr lang="en-US" dirty="0"/>
                        <a:t>River Water Quality Data at Different Monitoring Stations (1986–2022), 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6972166"/>
                  </a:ext>
                </a:extLst>
              </a:tr>
              <a:tr h="577785">
                <a:tc>
                  <a:txBody>
                    <a:bodyPr/>
                    <a:lstStyle/>
                    <a:p>
                      <a:r>
                        <a:rPr lang="en-IN" dirty="0"/>
                        <a:t>Summary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Contains long-term records of river water quality from 1986 to 2022 at multiple monitoring stations in Hong Kong. Parameters include BOD, COD, ammonia, metals, and other indicators of water pollution.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7998425"/>
                  </a:ext>
                </a:extLst>
              </a:tr>
              <a:tr h="577785"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Useful for analyzing long-term trends in water pollution and assessing the impact of environmental policies; valuable reference dataset for IoT or AI-based water quality prediction systems.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885487"/>
                  </a:ext>
                </a:extLst>
              </a:tr>
              <a:tr h="577785"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real-time data; variations in station coverage and sampling consistency; lacks newer pollutant parameters and detailed metadata on methodology changes.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1856700"/>
                  </a:ext>
                </a:extLst>
              </a:tr>
              <a:tr h="577785">
                <a:tc>
                  <a:txBody>
                    <a:bodyPr/>
                    <a:lstStyle/>
                    <a:p>
                      <a:r>
                        <a:rPr lang="en-IN" dirty="0"/>
                        <a:t>Inspects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a 35+ year historical baseline that supports environmental research, pollution trend analysis, and calibration for smart monitoring systems.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3373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067664"/>
      </p:ext>
    </p:extLst>
  </p:cSld>
  <p:clrMapOvr>
    <a:masterClrMapping/>
  </p:clrMapOvr>
  <p:transition>
    <p:cut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8EC9-F3D4-6E76-1308-5998EB65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53A7-E0ED-B5DC-3DEF-3D98E588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16A14-C095-4CE2-2FF6-1191ECE4C8F3}"/>
              </a:ext>
            </a:extLst>
          </p:cNvPr>
          <p:cNvSpPr txBox="1"/>
          <p:nvPr/>
        </p:nvSpPr>
        <p:spPr>
          <a:xfrm>
            <a:off x="412955" y="1417638"/>
            <a:ext cx="6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+mn-lt"/>
              </a:rPr>
              <a:t>7.</a:t>
            </a:r>
            <a:r>
              <a:rPr lang="en-IN" sz="1800" dirty="0"/>
              <a:t> Federated Knowledge Distillation</a:t>
            </a:r>
            <a:endParaRPr lang="en-IN" sz="1800" dirty="0">
              <a:latin typeface="+mn-lt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7082078-6316-9B4B-06FC-BEBF2C6F4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213846"/>
              </p:ext>
            </p:extLst>
          </p:nvPr>
        </p:nvGraphicFramePr>
        <p:xfrm>
          <a:off x="412955" y="1961639"/>
          <a:ext cx="10972800" cy="397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290">
                  <a:extLst>
                    <a:ext uri="{9D8B030D-6E8A-4147-A177-3AD203B41FA5}">
                      <a16:colId xmlns:a16="http://schemas.microsoft.com/office/drawing/2014/main" val="3789051030"/>
                    </a:ext>
                  </a:extLst>
                </a:gridCol>
                <a:gridCol w="9055510">
                  <a:extLst>
                    <a:ext uri="{9D8B030D-6E8A-4147-A177-3AD203B41FA5}">
                      <a16:colId xmlns:a16="http://schemas.microsoft.com/office/drawing/2014/main" val="438802756"/>
                    </a:ext>
                  </a:extLst>
                </a:gridCol>
              </a:tblGrid>
              <a:tr h="38501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Aspects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66805"/>
                  </a:ext>
                </a:extLst>
              </a:tr>
              <a:tr h="608196"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H. Seo, J. Park, S. Oh, M. Bennis, and S. Kim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972166"/>
                  </a:ext>
                </a:extLst>
              </a:tr>
              <a:tr h="962528">
                <a:tc>
                  <a:txBody>
                    <a:bodyPr/>
                    <a:lstStyle/>
                    <a:p>
                      <a:r>
                        <a:rPr lang="en-IN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Proposes a method for collaborative model training without sharing raw data, where multiple clients distill their knowledge through logits to a shared global model instead of exchanging parameters.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998425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relevant for privacy-preserving IoT and distributed water-quality monitoring, allowing edge devices to contribute to a global pollution prediction model without data leakage.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85487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reliable communication and sufficient client diversity; performance may drop with small or non-IID datasets; limited validation on real-world IoT sensor data.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856700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Inspects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secure and communication-efficient federated learning; can significantly improve scalability and privacy in environmental or IoT-based monitoring systems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373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339288"/>
      </p:ext>
    </p:extLst>
  </p:cSld>
  <p:clrMapOvr>
    <a:masterClrMapping/>
  </p:clrMapOvr>
  <p:transition>
    <p:cut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EF2E2-3F1D-DE00-BDE3-17DD38A6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5780-5633-92BB-4D64-184A83DC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B19D4-F5C5-AFDE-2E41-A48B053A47A5}"/>
              </a:ext>
            </a:extLst>
          </p:cNvPr>
          <p:cNvSpPr txBox="1"/>
          <p:nvPr/>
        </p:nvSpPr>
        <p:spPr>
          <a:xfrm>
            <a:off x="412955" y="1417638"/>
            <a:ext cx="846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+mn-lt"/>
              </a:rPr>
              <a:t>8.</a:t>
            </a:r>
            <a:r>
              <a:rPr lang="en-IN" sz="1800" dirty="0"/>
              <a:t> </a:t>
            </a:r>
            <a:r>
              <a:rPr lang="en-US" sz="1800" dirty="0"/>
              <a:t>Guidelines for safe recreational water environments: Coastal and fresh waters</a:t>
            </a:r>
            <a:endParaRPr lang="en-IN" sz="1800" dirty="0">
              <a:latin typeface="+mn-lt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DE00F75-1F69-AA71-0A23-97BDC6A294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909459"/>
              </p:ext>
            </p:extLst>
          </p:nvPr>
        </p:nvGraphicFramePr>
        <p:xfrm>
          <a:off x="412955" y="1961639"/>
          <a:ext cx="10972800" cy="400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290">
                  <a:extLst>
                    <a:ext uri="{9D8B030D-6E8A-4147-A177-3AD203B41FA5}">
                      <a16:colId xmlns:a16="http://schemas.microsoft.com/office/drawing/2014/main" val="3789051030"/>
                    </a:ext>
                  </a:extLst>
                </a:gridCol>
                <a:gridCol w="9055510">
                  <a:extLst>
                    <a:ext uri="{9D8B030D-6E8A-4147-A177-3AD203B41FA5}">
                      <a16:colId xmlns:a16="http://schemas.microsoft.com/office/drawing/2014/main" val="438802756"/>
                    </a:ext>
                  </a:extLst>
                </a:gridCol>
              </a:tblGrid>
              <a:tr h="38501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Aspects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66805"/>
                  </a:ext>
                </a:extLst>
              </a:tr>
              <a:tr h="608196"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World Health Organization (WHO), Guidelines for Safe Recreational Water Environments: Coastal and Fresh Waters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972166"/>
                  </a:ext>
                </a:extLst>
              </a:tr>
              <a:tr h="962528">
                <a:tc>
                  <a:txBody>
                    <a:bodyPr/>
                    <a:lstStyle/>
                    <a:p>
                      <a:r>
                        <a:rPr lang="en-IN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global health-based guidance for managing risks in recreational waters, covering microbiological, chemical, and physical hazards affecting public health and water quality standards.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998425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Important reference for setting safety thresholds in river and lake water-quality monitoring projects; supports defining alert limits in IoT-based water pollution systems.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85487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Focuses mainly on human health protection and may not address localized pollution patterns or emerging contaminants; limited integration with real-time sensor technologies.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856700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Inspects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Establishes internationally recognized safety criteria and best practices that can guide water-quality monitoring frameworks and public health policies.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73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587903"/>
      </p:ext>
    </p:extLst>
  </p:cSld>
  <p:clrMapOvr>
    <a:masterClrMapping/>
  </p:clrMapOvr>
  <p:transition>
    <p:cut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E61AD-6796-D650-334A-49E91D51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3866-7570-9438-8D73-37E68C97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F0523-7D45-8B54-12A5-E5144C59FBA7}"/>
              </a:ext>
            </a:extLst>
          </p:cNvPr>
          <p:cNvSpPr txBox="1"/>
          <p:nvPr/>
        </p:nvSpPr>
        <p:spPr>
          <a:xfrm>
            <a:off x="412955" y="1417638"/>
            <a:ext cx="846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+mn-lt"/>
              </a:rPr>
              <a:t>9.</a:t>
            </a:r>
            <a:r>
              <a:rPr lang="en-IN" sz="1800" dirty="0"/>
              <a:t> </a:t>
            </a:r>
            <a:r>
              <a:rPr lang="en-US" sz="1800" dirty="0"/>
              <a:t>Water </a:t>
            </a:r>
            <a:r>
              <a:rPr lang="en-US" sz="1800" dirty="0" err="1"/>
              <a:t>contami</a:t>
            </a:r>
            <a:r>
              <a:rPr lang="en-US" sz="1800" dirty="0"/>
              <a:t>- nation and human health risks in Pakistan: a review</a:t>
            </a:r>
            <a:endParaRPr lang="en-IN" sz="1800" dirty="0">
              <a:latin typeface="+mn-lt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925E9A6-DE87-64B2-5EAB-800035EB9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931508"/>
              </p:ext>
            </p:extLst>
          </p:nvPr>
        </p:nvGraphicFramePr>
        <p:xfrm>
          <a:off x="412955" y="1961639"/>
          <a:ext cx="10972800" cy="397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290">
                  <a:extLst>
                    <a:ext uri="{9D8B030D-6E8A-4147-A177-3AD203B41FA5}">
                      <a16:colId xmlns:a16="http://schemas.microsoft.com/office/drawing/2014/main" val="3789051030"/>
                    </a:ext>
                  </a:extLst>
                </a:gridCol>
                <a:gridCol w="9055510">
                  <a:extLst>
                    <a:ext uri="{9D8B030D-6E8A-4147-A177-3AD203B41FA5}">
                      <a16:colId xmlns:a16="http://schemas.microsoft.com/office/drawing/2014/main" val="438802756"/>
                    </a:ext>
                  </a:extLst>
                </a:gridCol>
              </a:tblGrid>
              <a:tr h="38501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Aspects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66805"/>
                  </a:ext>
                </a:extLst>
              </a:tr>
              <a:tr h="608196"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M. Fida, P. Li, Y. Wang, S. K. Lam, and A. Nsabimana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972166"/>
                  </a:ext>
                </a:extLst>
              </a:tr>
              <a:tr h="962528">
                <a:tc>
                  <a:txBody>
                    <a:bodyPr/>
                    <a:lstStyle/>
                    <a:p>
                      <a:r>
                        <a:rPr lang="en-IN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Reviews major sources of water contamination in Pakistan, including industrial waste, agricultural runoff, and poor sanitation. Discusses chemical, biological, and heavy metal pollutants and their associated health risks.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998425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insight into pollution patterns and their human health impacts, useful for designing alert thresholds and evaluating water-quality parameters in IoT-based monitoring systems.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85487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Limited field data integration; lacks advanced predictive or IoT-based monitoring approaches; focuses primarily on regional case studies.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856700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Inspects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Raises awareness of public health issues from water contamination and emphasizes the need for continuous monitoring and sustainable water management strategies.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73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667119"/>
      </p:ext>
    </p:extLst>
  </p:cSld>
  <p:clrMapOvr>
    <a:masterClrMapping/>
  </p:clrMapOvr>
  <p:transition>
    <p:cut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AB98-0AA0-24B9-8E79-E2FE12F1F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DF03-8169-443B-9C6C-9B1292F0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Research and Literature Review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8E358-BBB8-EB5A-EC77-8E60D19BE5F2}"/>
              </a:ext>
            </a:extLst>
          </p:cNvPr>
          <p:cNvSpPr txBox="1"/>
          <p:nvPr/>
        </p:nvSpPr>
        <p:spPr>
          <a:xfrm>
            <a:off x="412955" y="1417638"/>
            <a:ext cx="846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+mn-lt"/>
              </a:rPr>
              <a:t>10.</a:t>
            </a:r>
            <a:r>
              <a:rPr lang="en-IN" sz="1800" dirty="0"/>
              <a:t> </a:t>
            </a:r>
            <a:r>
              <a:rPr lang="en-US" sz="1800" dirty="0"/>
              <a:t>Probabilistic Machine Learning and Artificial Intelligence</a:t>
            </a:r>
            <a:endParaRPr lang="en-IN" sz="1800" dirty="0">
              <a:latin typeface="+mn-lt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1661C37-0F58-71D6-41BB-AAF41DCA6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383599"/>
              </p:ext>
            </p:extLst>
          </p:nvPr>
        </p:nvGraphicFramePr>
        <p:xfrm>
          <a:off x="412955" y="1961639"/>
          <a:ext cx="10972800" cy="397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290">
                  <a:extLst>
                    <a:ext uri="{9D8B030D-6E8A-4147-A177-3AD203B41FA5}">
                      <a16:colId xmlns:a16="http://schemas.microsoft.com/office/drawing/2014/main" val="3789051030"/>
                    </a:ext>
                  </a:extLst>
                </a:gridCol>
                <a:gridCol w="9055510">
                  <a:extLst>
                    <a:ext uri="{9D8B030D-6E8A-4147-A177-3AD203B41FA5}">
                      <a16:colId xmlns:a16="http://schemas.microsoft.com/office/drawing/2014/main" val="438802756"/>
                    </a:ext>
                  </a:extLst>
                </a:gridCol>
              </a:tblGrid>
              <a:tr h="38501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Aspects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66805"/>
                  </a:ext>
                </a:extLst>
              </a:tr>
              <a:tr h="608196"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Z. Ghahramani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972166"/>
                  </a:ext>
                </a:extLst>
              </a:tr>
              <a:tr h="962528">
                <a:tc>
                  <a:txBody>
                    <a:bodyPr/>
                    <a:lstStyle/>
                    <a:p>
                      <a:r>
                        <a:rPr lang="en-IN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Explores how probabilistic models form the foundation of modern AI, combining statistics and machine learning to handle uncertainty in data-driven systems. Highlights Bayesian inference, graphical models, and learning under uncertainty.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998425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Relevant for developing AI-driven environmental models that estimate pollution levels with uncertainty handling — useful for predictive IoT water-quality frameworks.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85487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Focuses mainly on theory; lacks direct environmental or IoT applications; requires adaptation for resource-constrained edge devices.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856700"/>
                  </a:ext>
                </a:extLst>
              </a:tr>
              <a:tr h="673770">
                <a:tc>
                  <a:txBody>
                    <a:bodyPr/>
                    <a:lstStyle/>
                    <a:p>
                      <a:r>
                        <a:rPr lang="en-IN" dirty="0"/>
                        <a:t>Inspects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a strong theoretical base for uncertainty-aware models, improving the reliability and interpretability of AI systems in environmental monitoring.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73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847471"/>
      </p:ext>
    </p:extLst>
  </p:cSld>
  <p:clrMapOvr>
    <a:masterClrMapping/>
  </p:clrMapOvr>
  <p:transition>
    <p:cut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6C7A5DA-16CA-EB36-CAE6-5AA999D5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D558598A-8F1A-7E95-B961-164E1CD24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0699" y="-143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045C"/>
              </a:buClr>
              <a:buSzPct val="100000"/>
              <a:buFont typeface="Calibri"/>
              <a:buNone/>
            </a:pPr>
            <a:r>
              <a:rPr lang="en-IN" b="1">
                <a:solidFill>
                  <a:srgbClr val="54045C"/>
                </a:solidFill>
              </a:rPr>
              <a:t>Problem Statement</a:t>
            </a:r>
            <a:endParaRPr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5941283-4F07-49EF-B1DC-56E7BABC1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9" y="5418774"/>
            <a:ext cx="75934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2" descr="Sailing in a storm - how difficult is sailing">
            <a:extLst>
              <a:ext uri="{FF2B5EF4-FFF2-40B4-BE49-F238E27FC236}">
                <a16:creationId xmlns:a16="http://schemas.microsoft.com/office/drawing/2014/main" id="{53512B45-B1F4-B260-900F-49E25058B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73411" y="1677055"/>
            <a:ext cx="1660051" cy="360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 descr="Sailing in a storm - how difficult is sailing">
            <a:extLst>
              <a:ext uri="{FF2B5EF4-FFF2-40B4-BE49-F238E27FC236}">
                <a16:creationId xmlns:a16="http://schemas.microsoft.com/office/drawing/2014/main" id="{F3B3730C-CF78-D263-0255-2EFB5AEB5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6" descr="Sailing in a storm - how difficult is sailing">
            <a:extLst>
              <a:ext uri="{FF2B5EF4-FFF2-40B4-BE49-F238E27FC236}">
                <a16:creationId xmlns:a16="http://schemas.microsoft.com/office/drawing/2014/main" id="{A890B7FD-2EF9-361D-6668-C8E50B2D8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8" descr="Sailing in a storm - how difficult is sailing">
            <a:extLst>
              <a:ext uri="{FF2B5EF4-FFF2-40B4-BE49-F238E27FC236}">
                <a16:creationId xmlns:a16="http://schemas.microsoft.com/office/drawing/2014/main" id="{EBEC0170-7BB5-857C-D4B6-D7463BB9D3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10" descr="Sailing in a storm - how difficult is sailing">
            <a:extLst>
              <a:ext uri="{FF2B5EF4-FFF2-40B4-BE49-F238E27FC236}">
                <a16:creationId xmlns:a16="http://schemas.microsoft.com/office/drawing/2014/main" id="{1DA92B87-582D-5FE3-CBF9-F63DF2B6AA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12" descr="Sailing in a storm - how difficult is sailing">
            <a:extLst>
              <a:ext uri="{FF2B5EF4-FFF2-40B4-BE49-F238E27FC236}">
                <a16:creationId xmlns:a16="http://schemas.microsoft.com/office/drawing/2014/main" id="{797F98C0-CF78-164B-BF7C-A40F65172B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03FA7B-2E7D-2A08-66A7-4A7C387684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9089" y="1541880"/>
            <a:ext cx="800883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pollution is increasing rapidly due to industrial waste, sewage discharge, and chemical contamination, leading to severe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hazards and environmental damage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water quality monitoring methods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manual, costly, and time-consuming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requiring laboratory analysis that cannot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regions lack access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and automated monitoring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difficult to detect pollution at an early stage.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smart, efficient, and low-cost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water quality digitally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issue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immediate warnings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pollution levels rise.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addresses the problem by developing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image-processing–based simulation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capable of evaluating water pollution levels and generating alerts, paving the way for future IoT-based real-time monitoring solutions.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D94AB5-5746-2E36-3B51-4D6CF23A8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533" y="1413921"/>
            <a:ext cx="3420377" cy="437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1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599" y="370215"/>
            <a:ext cx="109728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Product Architecture and Design/ Block Diagram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399A25-E9C5-5C2D-7594-157B741F8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96" y="1632154"/>
            <a:ext cx="4823722" cy="3215815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8DB145E-026E-BCB9-5444-F7B04FA14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02657" y="1513214"/>
            <a:ext cx="9881419" cy="5176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8670-5137-6641-5FF4-2785DE52E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280548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DATA FLOW DIAGRAM</a:t>
            </a:r>
            <a:endParaRPr lang="en-IN" sz="4000" dirty="0">
              <a:solidFill>
                <a:srgbClr val="7030A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ED025-DEF8-4898-6BB7-3B4C1AC0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43862C-E267-4ADB-97FE-0C2E25BDD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6"/>
            <a:ext cx="109728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26147"/>
      </p:ext>
    </p:extLst>
  </p:cSld>
  <p:clrMapOvr>
    <a:masterClrMapping/>
  </p:clrMapOvr>
  <p:transition>
    <p:cut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9449-53C6-7476-CD86-B7D05453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UML DIAGRAM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0B0B4-C00A-B995-BD5C-6EAD9B335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5600F0-2FB0-41F0-A68D-45BC95F3B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59" y="1181662"/>
            <a:ext cx="9566789" cy="540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44414"/>
      </p:ext>
    </p:extLst>
  </p:cSld>
  <p:clrMapOvr>
    <a:masterClrMapping/>
  </p:clrMapOvr>
  <p:transition>
    <p:cut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9E81-6CE8-5307-8CF1-5A433F55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6856"/>
            <a:ext cx="9743768" cy="96177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MODULE DESCRIPTION/COMPONENT SPECIFICATION</a:t>
            </a:r>
            <a:endParaRPr lang="en-IN" sz="4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39A9E-2B2D-42D8-4B98-91E4C6F1A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2" y="1236412"/>
            <a:ext cx="11002297" cy="552326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3F7A3F-9069-3B5C-47DA-7F780604B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567608"/>
              </p:ext>
            </p:extLst>
          </p:nvPr>
        </p:nvGraphicFramePr>
        <p:xfrm>
          <a:off x="609600" y="3223101"/>
          <a:ext cx="10972800" cy="1201415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3539744659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435828591"/>
                    </a:ext>
                  </a:extLst>
                </a:gridCol>
              </a:tblGrid>
              <a:tr h="8356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084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1231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3A512C-880C-83B5-DE98-17862DDEB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23830"/>
              </p:ext>
            </p:extLst>
          </p:nvPr>
        </p:nvGraphicFramePr>
        <p:xfrm>
          <a:off x="971088" y="1639529"/>
          <a:ext cx="8988990" cy="4175812"/>
        </p:xfrm>
        <a:graphic>
          <a:graphicData uri="http://schemas.openxmlformats.org/drawingml/2006/table">
            <a:tbl>
              <a:tblPr/>
              <a:tblGrid>
                <a:gridCol w="4494495">
                  <a:extLst>
                    <a:ext uri="{9D8B030D-6E8A-4147-A177-3AD203B41FA5}">
                      <a16:colId xmlns:a16="http://schemas.microsoft.com/office/drawing/2014/main" val="2811414302"/>
                    </a:ext>
                  </a:extLst>
                </a:gridCol>
                <a:gridCol w="4494495">
                  <a:extLst>
                    <a:ext uri="{9D8B030D-6E8A-4147-A177-3AD203B41FA5}">
                      <a16:colId xmlns:a16="http://schemas.microsoft.com/office/drawing/2014/main" val="1897817942"/>
                    </a:ext>
                  </a:extLst>
                </a:gridCol>
              </a:tblGrid>
              <a:tr h="235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Module Name</a:t>
                      </a:r>
                      <a:endParaRPr lang="en-IN" sz="140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Description / Functionality</a:t>
                      </a:r>
                      <a:endParaRPr lang="en-IN" sz="140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195049"/>
                  </a:ext>
                </a:extLst>
              </a:tr>
              <a:tr h="588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1. Sensor Module</a:t>
                      </a:r>
                      <a:endParaRPr lang="en-IN" sz="140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Collects real-time water quality data such as pH, turbidity, dissolved oxygen, and chemical concentration through IoT sensors.</a:t>
                      </a:r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578026"/>
                  </a:ext>
                </a:extLst>
              </a:tr>
              <a:tr h="412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2. Data Processing Module</a:t>
                      </a:r>
                      <a:endParaRPr lang="en-IN" sz="140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Cleans, validates, and processes sensor data using Python libraries (NumPy, Pandas) for accurate analysis.</a:t>
                      </a:r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674636"/>
                  </a:ext>
                </a:extLst>
              </a:tr>
              <a:tr h="588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3. Analysis &amp; Decision Module</a:t>
                      </a:r>
                      <a:endParaRPr lang="en-IN" sz="140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Compares live readings with predefined safety thresholds to detect pollution levels and classify water quality status.</a:t>
                      </a:r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87982"/>
                  </a:ext>
                </a:extLst>
              </a:tr>
              <a:tr h="588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4. Alert &amp; Notification Module</a:t>
                      </a:r>
                      <a:endParaRPr lang="en-IN" sz="1400" dirty="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Generates automated alerts (Email/SMS) using Python’s SMTP and API integrations when pollution exceeds limits.</a:t>
                      </a:r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4002"/>
                  </a:ext>
                </a:extLst>
              </a:tr>
              <a:tr h="412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5. Visualization &amp; Reporting Module</a:t>
                      </a:r>
                      <a:endParaRPr lang="en-IN" sz="1400" dirty="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Displays data and alert results through graphical dashboards and generates detailed PDF reports.</a:t>
                      </a:r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725741"/>
                  </a:ext>
                </a:extLst>
              </a:tr>
              <a:tr h="412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6. Database / Logging Module</a:t>
                      </a:r>
                      <a:endParaRPr lang="en-IN" sz="140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Stores sensor readings, alert history, and analytical results for audit and future analysis.</a:t>
                      </a:r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518255"/>
                  </a:ext>
                </a:extLst>
              </a:tr>
              <a:tr h="412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7. User Interface Module</a:t>
                      </a:r>
                      <a:endParaRPr lang="en-IN" sz="1400"/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Provides real-time system interaction through a GUI (Flask/</a:t>
                      </a:r>
                      <a:r>
                        <a:rPr lang="en-US" sz="1400" dirty="0" err="1"/>
                        <a:t>Tkinter</a:t>
                      </a:r>
                      <a:r>
                        <a:rPr lang="en-US" sz="1400" dirty="0"/>
                        <a:t>) for operators and administrators.</a:t>
                      </a:r>
                    </a:p>
                  </a:txBody>
                  <a:tcPr marL="72999" marR="72999" marT="36500" marB="36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761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653550"/>
      </p:ext>
    </p:extLst>
  </p:cSld>
  <p:clrMapOvr>
    <a:masterClrMapping/>
  </p:clrMapOvr>
  <p:transition>
    <p:cut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1627" y="-118613"/>
            <a:ext cx="10972800" cy="1143000"/>
          </a:xfrm>
        </p:spPr>
        <p:txBody>
          <a:bodyPr>
            <a:normAutofit/>
          </a:bodyPr>
          <a:lstStyle/>
          <a:p>
            <a:pPr lvl="0"/>
            <a:r>
              <a:rPr lang="en-IN" b="1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Experimental 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9E966-6017-EC85-085F-6FEF18515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963F8B-B158-8587-EED7-9FDD53EC5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28" y="1423212"/>
            <a:ext cx="4914438" cy="3834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310F5E-257A-5E45-9831-8A649D079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188" y="1423212"/>
            <a:ext cx="5879690" cy="3834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585448B0-FC95-9449-D609-2EAD01E2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F20A2F-6549-0E73-2498-DE4D5588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0"/>
            <a:ext cx="10972800" cy="1143000"/>
          </a:xfrm>
        </p:spPr>
        <p:txBody>
          <a:bodyPr>
            <a:normAutofit/>
          </a:bodyPr>
          <a:lstStyle/>
          <a:p>
            <a:pPr lvl="0"/>
            <a:r>
              <a:rPr lang="en-IN" b="1" dirty="0">
                <a:solidFill>
                  <a:srgbClr val="54045C"/>
                </a:solidFill>
                <a:ea typeface="Calibri"/>
                <a:cs typeface="Calibri"/>
                <a:sym typeface="Calibri"/>
              </a:rPr>
              <a:t>Experimental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4B55A-2961-6F7B-8CA3-41CAE448A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9D4515-D4F7-E3C2-D728-ECCFBBF6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374" y="1538754"/>
            <a:ext cx="4473677" cy="35937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6C9DC8-8AC3-D1AA-0F59-BC7020875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23" y="1531374"/>
            <a:ext cx="4195858" cy="355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37825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55600" y="-128183"/>
            <a:ext cx="10972800" cy="1143000"/>
          </a:xfrm>
        </p:spPr>
        <p:txBody>
          <a:bodyPr>
            <a:normAutofit/>
          </a:bodyPr>
          <a:lstStyle/>
          <a:p>
            <a:pPr lvl="0"/>
            <a:r>
              <a:rPr lang="en-IN" b="1">
                <a:solidFill>
                  <a:srgbClr val="54045C"/>
                </a:solidFill>
                <a:cs typeface="Calibri"/>
                <a:sym typeface="Calibri"/>
              </a:rPr>
              <a:t>Conclusion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26720" y="1061783"/>
            <a:ext cx="8239760" cy="4525963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2AE3E15-74B1-53B3-7564-12BDF34DF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" y="5750004"/>
            <a:ext cx="798715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F2D6E40-7A02-A61D-543B-916A5244BAD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3777" y="1124429"/>
            <a:ext cx="827324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Pollution Alert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demonstrates how Python-based automation can transform traditional water monitoring into a real-time, data-driven solution.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processing and sensor technologies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accurate detection of pollution levels and provides timely alerts to relevant authorities.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scalability, enabling easy integration of additional sensors, data visualization tools, or cloud-based reporting modules in the future.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automated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analysis, alert generation, and report creation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project minimizes human intervention and enhances the efficiency of environmental surveillance.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developed prototype 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 and portable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suitable for deployment in rivers, lakes, or industrial discharge points for rapid pollution detection.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contributes to sustainable environmental management by offering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reliable, real-time pollution monitoring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supports early intervention and public health protection.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C73C5A-3C1A-2F21-92D3-1CCB36367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513" y="1124429"/>
            <a:ext cx="2007887" cy="2031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2991FA-83C3-B4D4-140E-404B47C1A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513" y="3663586"/>
            <a:ext cx="2007887" cy="2031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F29E-0458-EDC5-7879-F285A566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300" b="1" dirty="0">
                <a:solidFill>
                  <a:srgbClr val="4B0055"/>
                </a:solidFill>
              </a:rPr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59CAB-16B9-AB90-6B13-797FE7C03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Integration with </a:t>
            </a:r>
            <a:r>
              <a:rPr lang="en-US" b="1" dirty="0"/>
              <a:t>IoT sensors</a:t>
            </a:r>
            <a:r>
              <a:rPr lang="en-US" dirty="0"/>
              <a:t> (pH, turbidity, temperature, conductivity) for real-time water quality data collection.</a:t>
            </a:r>
          </a:p>
          <a:p>
            <a:r>
              <a:rPr lang="en-US" dirty="0"/>
              <a:t>Development of a </a:t>
            </a:r>
            <a:r>
              <a:rPr lang="en-US" b="1" dirty="0"/>
              <a:t>cloud-based monitoring dashboard</a:t>
            </a:r>
            <a:r>
              <a:rPr lang="en-US" dirty="0"/>
              <a:t> to visualize pollution data and historical trends.</a:t>
            </a:r>
          </a:p>
          <a:p>
            <a:r>
              <a:rPr lang="en-US" dirty="0"/>
              <a:t>Implementation of </a:t>
            </a:r>
            <a:r>
              <a:rPr lang="en-US" b="1" dirty="0"/>
              <a:t>machine learning models</a:t>
            </a:r>
            <a:r>
              <a:rPr lang="en-US" dirty="0"/>
              <a:t> to predict future pollution levels based on previous readings.</a:t>
            </a:r>
          </a:p>
          <a:p>
            <a:r>
              <a:rPr lang="en-US" dirty="0"/>
              <a:t>Addition of </a:t>
            </a:r>
            <a:r>
              <a:rPr lang="en-US" b="1" dirty="0"/>
              <a:t>mobile or web applications</a:t>
            </a:r>
            <a:r>
              <a:rPr lang="en-US" dirty="0"/>
              <a:t> for instant user notifications and remote access.</a:t>
            </a:r>
          </a:p>
          <a:p>
            <a:r>
              <a:rPr lang="en-US" dirty="0"/>
              <a:t>Incorporation of </a:t>
            </a:r>
            <a:r>
              <a:rPr lang="en-US" b="1" dirty="0"/>
              <a:t>GPS modules</a:t>
            </a:r>
            <a:r>
              <a:rPr lang="en-US" dirty="0"/>
              <a:t> for location-based pollution tracking and mapping.</a:t>
            </a:r>
          </a:p>
          <a:p>
            <a:r>
              <a:rPr lang="en-US" dirty="0"/>
              <a:t>Enhancement of </a:t>
            </a:r>
            <a:r>
              <a:rPr lang="en-US" b="1" dirty="0"/>
              <a:t>system accuracy and scalability</a:t>
            </a:r>
            <a:r>
              <a:rPr lang="en-US" dirty="0"/>
              <a:t> for deployment in large-scale environmental monitoring projects.</a:t>
            </a:r>
          </a:p>
          <a:p>
            <a:r>
              <a:rPr lang="en-US" dirty="0"/>
              <a:t>Collaboration with </a:t>
            </a:r>
            <a:r>
              <a:rPr lang="en-US" b="1" dirty="0"/>
              <a:t>municipal and environmental agencies</a:t>
            </a:r>
            <a:r>
              <a:rPr lang="en-US" dirty="0"/>
              <a:t> for real-world testing and validation.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194188"/>
      </p:ext>
    </p:extLst>
  </p:cSld>
  <p:clrMapOvr>
    <a:masterClrMapping/>
  </p:clrMapOvr>
  <p:transition>
    <p:cut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>
                <a:solidFill>
                  <a:srgbClr val="54045C"/>
                </a:solidFill>
                <a:cs typeface="Calibri"/>
                <a:sym typeface="Calibri"/>
              </a:rPr>
              <a:t>Reference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3808" y="1488645"/>
            <a:ext cx="109728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[1] M. </a:t>
            </a:r>
            <a:r>
              <a:rPr lang="en-US" dirty="0" err="1"/>
              <a:t>Talebkhah</a:t>
            </a:r>
            <a:r>
              <a:rPr lang="en-US" dirty="0"/>
              <a:t>, A. Sali, M. Marjani, M. Gordan, S. J. Hashim and F. Z. </a:t>
            </a:r>
            <a:r>
              <a:rPr lang="en-US" dirty="0" err="1"/>
              <a:t>Rokhani</a:t>
            </a:r>
            <a:r>
              <a:rPr lang="en-US" dirty="0"/>
              <a:t>, ”IoT and Big Data Applications in Smart Cities: Recent Advances, Challenges, and Critical Issues,” in IEEE Access, vol. 9, pp. 55465-55484, 2021.</a:t>
            </a:r>
            <a:endParaRPr lang="en-IN" dirty="0"/>
          </a:p>
          <a:p>
            <a:r>
              <a:rPr lang="en-US" dirty="0"/>
              <a:t>[2] UM. J. Uddin and Y. K. Jeong, ”Urban river pollution in Bangladesh during last 40 years: potential public health and ecological risk, present policy, and future prospects toward smart water management,” in </a:t>
            </a:r>
            <a:r>
              <a:rPr lang="en-US" dirty="0" err="1"/>
              <a:t>Heiyon</a:t>
            </a:r>
            <a:r>
              <a:rPr lang="en-US" dirty="0"/>
              <a:t>, vol. 7, no. 2, 2021</a:t>
            </a:r>
            <a:endParaRPr lang="en-IN" dirty="0"/>
          </a:p>
          <a:p>
            <a:r>
              <a:rPr lang="en-US" dirty="0"/>
              <a:t>[3] M. Fida, P. Li, Y. Wang, </a:t>
            </a:r>
            <a:r>
              <a:rPr lang="en-US" dirty="0" err="1"/>
              <a:t>S.K</a:t>
            </a:r>
            <a:r>
              <a:rPr lang="en-US" dirty="0"/>
              <a:t> lam and A. Nsabimana, ”Water </a:t>
            </a:r>
            <a:r>
              <a:rPr lang="en-US" dirty="0" err="1"/>
              <a:t>contami</a:t>
            </a:r>
            <a:r>
              <a:rPr lang="en-US" dirty="0"/>
              <a:t>- nation and human health risks in Pakistan: a review,” in Exposure and Health, vol. 15, no. 3, pp. 619-639, 2023.</a:t>
            </a:r>
            <a:endParaRPr lang="en-IN" dirty="0"/>
          </a:p>
          <a:p>
            <a:r>
              <a:rPr lang="en-US" dirty="0"/>
              <a:t>[4] Guidelines for safe recreational water environments: Coastal and fresh waters (Vol. 1). World Health Organization, 2021.</a:t>
            </a:r>
            <a:endParaRPr lang="en-IN" dirty="0"/>
          </a:p>
          <a:p>
            <a:r>
              <a:rPr lang="en-US" dirty="0"/>
              <a:t>[5] E. T. de Camargo et al., “Low-Cost Water Quality Sensors for IoT: A Systematic Review,” Sensors, vol. 23, no. 9, p. 4424, Apr. 2023.</a:t>
            </a:r>
            <a:endParaRPr lang="en-IN" dirty="0"/>
          </a:p>
          <a:p>
            <a:pPr>
              <a:lnSpc>
                <a:spcPct val="115000"/>
              </a:lnSpc>
            </a:pP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  <p:transition>
    <p:cut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/>
        </p:nvSpPr>
        <p:spPr>
          <a:xfrm>
            <a:off x="4176421" y="2695964"/>
            <a:ext cx="5300088" cy="1196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045C"/>
              </a:buClr>
              <a:buSzPct val="100000"/>
              <a:buFont typeface="Calibri"/>
              <a:buNone/>
            </a:pPr>
            <a:r>
              <a:rPr lang="en-IN" sz="8000" b="1" i="0" u="none" strike="noStrike" cap="none">
                <a:solidFill>
                  <a:srgbClr val="54045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6D9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</TotalTime>
  <Words>2819</Words>
  <Application>Microsoft Office PowerPoint</Application>
  <PresentationFormat>Widescreen</PresentationFormat>
  <Paragraphs>239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Time new roman</vt:lpstr>
      <vt:lpstr>Times New Roman</vt:lpstr>
      <vt:lpstr>Wingdings</vt:lpstr>
      <vt:lpstr>Office Theme</vt:lpstr>
      <vt:lpstr>                                                                                                  WATER POLLUTION ALERT  SYSTEM </vt:lpstr>
      <vt:lpstr>Agenda</vt:lpstr>
      <vt:lpstr>PowerPoint Presentation</vt:lpstr>
      <vt:lpstr>Introduction</vt:lpstr>
      <vt:lpstr>Objective</vt:lpstr>
      <vt:lpstr>Research and Literature Review </vt:lpstr>
      <vt:lpstr>Research and Literature Review </vt:lpstr>
      <vt:lpstr>Research and Literature Review </vt:lpstr>
      <vt:lpstr>Research and Literature Review </vt:lpstr>
      <vt:lpstr>Research and Literature Review </vt:lpstr>
      <vt:lpstr>Research and Literature Review </vt:lpstr>
      <vt:lpstr>Research and Literature Review </vt:lpstr>
      <vt:lpstr>Research and Literature Review </vt:lpstr>
      <vt:lpstr>Research and Literature Review </vt:lpstr>
      <vt:lpstr>Research and Literature Review </vt:lpstr>
      <vt:lpstr>Problem Statement</vt:lpstr>
      <vt:lpstr>Product Architecture and Design/ Block Diagram </vt:lpstr>
      <vt:lpstr>DATA FLOW DIAGRAM</vt:lpstr>
      <vt:lpstr>UML DIAGRAM</vt:lpstr>
      <vt:lpstr>MODULE DESCRIPTION/COMPONENT SPECIFICATION</vt:lpstr>
      <vt:lpstr>Experimental Results</vt:lpstr>
      <vt:lpstr>Experimental Results</vt:lpstr>
      <vt:lpstr>Conclusion </vt:lpstr>
      <vt:lpstr>Future Works</vt:lpstr>
      <vt:lpstr>Reference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PHASE 1</dc:title>
  <dc:creator>Fenitha Prince</dc:creator>
  <cp:lastModifiedBy>Dhakshina shri</cp:lastModifiedBy>
  <cp:revision>16</cp:revision>
  <dcterms:created xsi:type="dcterms:W3CDTF">2023-12-17T13:17:00Z</dcterms:created>
  <dcterms:modified xsi:type="dcterms:W3CDTF">2025-10-28T16:31:27Z</dcterms:modified>
</cp:coreProperties>
</file>